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394ea1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d394ea1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d394ea1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d394ea1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d394ea12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d394ea12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394ea1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394ea1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394ea1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394ea1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394ea12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394ea12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394ea12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d394ea12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394ea12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394ea12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394ea12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394ea12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394ea12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d394ea12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394ea12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d394ea12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394ea12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394ea12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d394ea12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d394ea12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c520e5d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ec520e5d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c520e5d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ec520e5d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d394ea12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d394ea12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d394ea12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d394ea12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d394ea12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d394ea12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c520e5d5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ec520e5d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d394ea12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d394ea12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d394ea12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d394ea12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c520e5d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ec520e5d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ec520e5d5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ec520e5d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d394ea12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d394ea12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d394ea12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d394ea12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d394ea12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d394ea12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d394ea12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d394ea12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2761598"/>
            <a:ext cx="9144000" cy="23205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744575"/>
            <a:ext cx="8520600" cy="12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434343"/>
                </a:solidFill>
              </a:rPr>
              <a:t>Statistical Modeling and Anomaly Detection in Smart Energy Consumption Data</a:t>
            </a:r>
            <a:endParaRPr b="1" sz="2700">
              <a:solidFill>
                <a:srgbClr val="434343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817573" y="3202175"/>
            <a:ext cx="2889300" cy="15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Presenters</a:t>
            </a:r>
            <a:endParaRPr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—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Arish Muthukumar (SC25M159)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Veenus K K (SC25M171)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98850" y="3202175"/>
            <a:ext cx="2889300" cy="15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Course</a:t>
            </a:r>
            <a:endParaRPr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—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MA643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Statistical Models Lab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6635025" y="3202175"/>
            <a:ext cx="2889300" cy="15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Presenters</a:t>
            </a:r>
            <a:endParaRPr sz="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—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Dr. Raju K. George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Professor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>
            <p:ph type="ctrTitle"/>
          </p:nvPr>
        </p:nvSpPr>
        <p:spPr>
          <a:xfrm>
            <a:off x="432225" y="4564700"/>
            <a:ext cx="85206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MTech Machine Learning and Computing, IIST, </a:t>
            </a:r>
            <a:r>
              <a:rPr lang="en" sz="900">
                <a:solidFill>
                  <a:srgbClr val="D9D9D9"/>
                </a:solidFill>
              </a:rPr>
              <a:t>Thiruvananthapuram</a:t>
            </a:r>
            <a:endParaRPr sz="9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OBJECTIVE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679725"/>
            <a:ext cx="9011100" cy="28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To predict </a:t>
            </a:r>
            <a:r>
              <a:rPr b="1" lang="en" sz="2100">
                <a:solidFill>
                  <a:srgbClr val="188038"/>
                </a:solidFill>
              </a:rPr>
              <a:t>P</a:t>
            </a:r>
            <a:r>
              <a:rPr b="1" lang="en" sz="2100">
                <a:solidFill>
                  <a:srgbClr val="188038"/>
                </a:solidFill>
              </a:rPr>
              <a:t>ower consumption</a:t>
            </a:r>
            <a:r>
              <a:rPr b="1" lang="en" sz="2100">
                <a:solidFill>
                  <a:schemeClr val="dk1"/>
                </a:solidFill>
              </a:rPr>
              <a:t> </a:t>
            </a:r>
            <a:r>
              <a:rPr lang="en" sz="2100">
                <a:solidFill>
                  <a:schemeClr val="dk1"/>
                </a:solidFill>
              </a:rPr>
              <a:t>from</a:t>
            </a:r>
            <a:r>
              <a:rPr b="1" lang="en" sz="2100">
                <a:solidFill>
                  <a:schemeClr val="dk1"/>
                </a:solidFill>
              </a:rPr>
              <a:t> 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88038"/>
                </a:solidFill>
              </a:rPr>
              <a:t>Household Electric Consumption features</a:t>
            </a:r>
            <a:endParaRPr b="1" sz="2100">
              <a:solidFill>
                <a:srgbClr val="188038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(Voltage, Global active power, </a:t>
            </a:r>
            <a:r>
              <a:rPr lang="en" sz="1500"/>
              <a:t>Global</a:t>
            </a:r>
            <a:r>
              <a:rPr lang="en" sz="1500"/>
              <a:t> reactive power,etc..)</a:t>
            </a:r>
            <a:endParaRPr sz="15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METHODOLOGY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86400" y="1560450"/>
            <a:ext cx="8245800" cy="30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Exploratory Data Analysis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Use different techniques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Select best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Interpret using SHAP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chemeClr val="lt1"/>
                </a:solidFill>
              </a:rPr>
              <a:t>Exploratory Data Analysis (EDA)</a:t>
            </a:r>
            <a:endParaRPr sz="15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DATA SOURCE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2867675"/>
            <a:ext cx="8520600" cy="19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Data Set Information:</a:t>
            </a:r>
            <a:endParaRPr b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This Dataset contains </a:t>
            </a:r>
            <a:r>
              <a:rPr b="1" lang="en" sz="1200">
                <a:solidFill>
                  <a:schemeClr val="dk1"/>
                </a:solidFill>
              </a:rPr>
              <a:t>2075259</a:t>
            </a:r>
            <a:r>
              <a:rPr lang="en" sz="1200">
                <a:solidFill>
                  <a:schemeClr val="dk1"/>
                </a:solidFill>
              </a:rPr>
              <a:t> measurements gathered between December 2006 and November 2010 (47 months).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Notes: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1.(global_active_power*1000/60 - sub_metering_1 - sub_metering_2 - sub_metering_3) represents the active energy consumed every minute (in watt hour).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2.The dataset contains </a:t>
            </a:r>
            <a:r>
              <a:rPr b="1" lang="en" sz="1200">
                <a:solidFill>
                  <a:schemeClr val="dk1"/>
                </a:solidFill>
              </a:rPr>
              <a:t>some missing values in the measurements</a:t>
            </a:r>
            <a:r>
              <a:rPr lang="en" sz="1200">
                <a:solidFill>
                  <a:schemeClr val="dk1"/>
                </a:solidFill>
              </a:rPr>
              <a:t> (nearly 1.25% of the rows).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64" y="950474"/>
            <a:ext cx="8113722" cy="18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DATA OVERVIEW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757550" y="1275200"/>
            <a:ext cx="7946700" cy="39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1.date: </a:t>
            </a:r>
            <a:r>
              <a:rPr lang="en" sz="1450">
                <a:solidFill>
                  <a:schemeClr val="dk1"/>
                </a:solidFill>
              </a:rPr>
              <a:t>Date in format dd/mm/yyyy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2.time: </a:t>
            </a:r>
            <a:r>
              <a:rPr lang="en" sz="1450">
                <a:solidFill>
                  <a:schemeClr val="dk1"/>
                </a:solidFill>
              </a:rPr>
              <a:t>time in format hh:mm:ss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3.global_active_power:</a:t>
            </a:r>
            <a:r>
              <a:rPr lang="en" sz="1450">
                <a:solidFill>
                  <a:schemeClr val="dk1"/>
                </a:solidFill>
              </a:rPr>
              <a:t> Averaged active power (in kilowatt)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4.global_reactive_power: </a:t>
            </a:r>
            <a:r>
              <a:rPr lang="en" sz="1450">
                <a:solidFill>
                  <a:schemeClr val="dk1"/>
                </a:solidFill>
              </a:rPr>
              <a:t>Averaged reactive power (in kilowatt)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5.voltage: </a:t>
            </a:r>
            <a:r>
              <a:rPr lang="en" sz="1450">
                <a:solidFill>
                  <a:schemeClr val="dk1"/>
                </a:solidFill>
              </a:rPr>
              <a:t>M</a:t>
            </a:r>
            <a:r>
              <a:rPr lang="en" sz="1450">
                <a:solidFill>
                  <a:schemeClr val="dk1"/>
                </a:solidFill>
              </a:rPr>
              <a:t>inute-averaged voltage (in volt)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6.global_intensity: </a:t>
            </a:r>
            <a:r>
              <a:rPr lang="en" sz="1450">
                <a:solidFill>
                  <a:schemeClr val="dk1"/>
                </a:solidFill>
              </a:rPr>
              <a:t>Averaged current intensity (in ampere)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7.sub_metering_1: </a:t>
            </a:r>
            <a:r>
              <a:rPr lang="en" sz="1450">
                <a:solidFill>
                  <a:schemeClr val="dk1"/>
                </a:solidFill>
              </a:rPr>
              <a:t>Kitchen (Dishwasher, oven).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8.sub_metering_2:</a:t>
            </a:r>
            <a:r>
              <a:rPr lang="en" sz="1450">
                <a:solidFill>
                  <a:schemeClr val="dk1"/>
                </a:solidFill>
              </a:rPr>
              <a:t> </a:t>
            </a:r>
            <a:r>
              <a:rPr lang="en" sz="1450">
                <a:solidFill>
                  <a:schemeClr val="dk1"/>
                </a:solidFill>
              </a:rPr>
              <a:t>Laundry</a:t>
            </a:r>
            <a:r>
              <a:rPr lang="en" sz="1450">
                <a:solidFill>
                  <a:schemeClr val="dk1"/>
                </a:solidFill>
              </a:rPr>
              <a:t> room (Washing-machine,Drier, </a:t>
            </a:r>
            <a:r>
              <a:rPr lang="en" sz="1450">
                <a:solidFill>
                  <a:schemeClr val="dk1"/>
                </a:solidFill>
              </a:rPr>
              <a:t>Refrigerator, L</a:t>
            </a:r>
            <a:r>
              <a:rPr lang="en" sz="1450">
                <a:solidFill>
                  <a:schemeClr val="dk1"/>
                </a:solidFill>
              </a:rPr>
              <a:t>ight).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9.sub_metering_3:</a:t>
            </a:r>
            <a:r>
              <a:rPr lang="en" sz="1450">
                <a:solidFill>
                  <a:schemeClr val="dk1"/>
                </a:solidFill>
              </a:rPr>
              <a:t> Electric water-heater and an air-conditioner.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DATA CLEANING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Removing columns with high missing values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Converts all features into numerical format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Extracts time-based features from datetime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hour → captures daily pattern (peak hours)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day → captures daily variation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month → captures seasonal trends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350" y="2785100"/>
            <a:ext cx="3209600" cy="2220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5">
            <a:alphaModFix/>
          </a:blip>
          <a:srcRect b="0" l="0" r="7330" t="0"/>
          <a:stretch/>
        </p:blipFill>
        <p:spPr>
          <a:xfrm>
            <a:off x="4638834" y="1699669"/>
            <a:ext cx="4444000" cy="2492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RAW </a:t>
            </a:r>
            <a:r>
              <a:rPr b="1" lang="en">
                <a:solidFill>
                  <a:srgbClr val="38761D"/>
                </a:solidFill>
              </a:rPr>
              <a:t>DATA 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7492"/>
            <a:ext cx="9144002" cy="27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STATISTICAL SIGNIFICANCE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450649"/>
            <a:ext cx="379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b="1" lang="en" sz="1200">
                <a:solidFill>
                  <a:schemeClr val="dk1"/>
                </a:solidFill>
              </a:rPr>
              <a:t>F-Statistic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Checks if the entire model is useful or not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High F-value → model is good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Low p-value (&lt; 0.05) → statistically significant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b="1" lang="en" sz="1200">
                <a:solidFill>
                  <a:schemeClr val="dk1"/>
                </a:solidFill>
              </a:rPr>
              <a:t>p-value (for each feature)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Tells whether a feature is important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 &lt; 0.05 → Important feature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 &gt; 0.05 → Not significant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0550" y="1408081"/>
            <a:ext cx="4732799" cy="3351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2374" y="1017725"/>
            <a:ext cx="2525727" cy="3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DATA SPLITTING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825" y="1851013"/>
            <a:ext cx="2228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6850" y="2138375"/>
            <a:ext cx="2886554" cy="173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FEATURE CORRELATION MATRIX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8661" y="1017725"/>
            <a:ext cx="5193338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423325" y="1164175"/>
            <a:ext cx="3843300" cy="3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correlation matrix shows relationships between features.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used it to identify important predictors and detect multicollinearity among variables.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Feature Importance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High correlation with target → useful feature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Multicollinearity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High correlation between features → problem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Causes unstable models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Solution: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Remove features OR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Use PCA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EDA (VISUALIZATION)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825" y="1081225"/>
            <a:ext cx="5651500" cy="378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chemeClr val="lt1"/>
                </a:solidFill>
              </a:rPr>
              <a:t>MODEL TRAINING</a:t>
            </a:r>
            <a:endParaRPr sz="15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MODELLING TECHNIQUES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810050" y="1754250"/>
            <a:ext cx="8022300" cy="28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Linear Regression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RandomForest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XGBoost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HYPERPARAMETER TUNING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2160" y="1053507"/>
            <a:ext cx="4630415" cy="3208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00" y="1053525"/>
            <a:ext cx="4041475" cy="3208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2150" y="4401100"/>
            <a:ext cx="4630425" cy="49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801" y="4401100"/>
            <a:ext cx="4041475" cy="49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HYPERPARAMETER TUNING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275" y="1035352"/>
            <a:ext cx="5395447" cy="3072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725" y="4351225"/>
            <a:ext cx="6690558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chemeClr val="lt1"/>
                </a:solidFill>
              </a:rPr>
              <a:t>EVALUATION</a:t>
            </a:r>
            <a:endParaRPr sz="15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METRICS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2177175" y="2526815"/>
            <a:ext cx="5952000" cy="26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" sz="1600">
                <a:solidFill>
                  <a:schemeClr val="dk1"/>
                </a:solidFill>
              </a:rPr>
              <a:t>RMSE (Root Mean Square Error)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</a:rPr>
              <a:t>Checks accuracy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</a:rPr>
              <a:t>Tells how far the prediction are from actual values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" sz="1600">
                <a:solidFill>
                  <a:schemeClr val="dk1"/>
                </a:solidFill>
              </a:rPr>
              <a:t>R2 Score (Coefficient of Determination)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</a:rPr>
              <a:t>Checks model strength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</a:rPr>
              <a:t>Measures how well the model explains the data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 rotWithShape="1">
          <a:blip r:embed="rId3">
            <a:alphaModFix/>
          </a:blip>
          <a:srcRect b="33088" l="0" r="0" t="0"/>
          <a:stretch/>
        </p:blipFill>
        <p:spPr>
          <a:xfrm>
            <a:off x="2433638" y="1316884"/>
            <a:ext cx="4276725" cy="949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335400" y="1943670"/>
            <a:ext cx="4942174" cy="262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/>
          <p:nvPr/>
        </p:nvSpPr>
        <p:spPr>
          <a:xfrm>
            <a:off x="4720175" y="2035500"/>
            <a:ext cx="825600" cy="2310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/>
          <p:nvPr/>
        </p:nvSpPr>
        <p:spPr>
          <a:xfrm>
            <a:off x="5781800" y="2035500"/>
            <a:ext cx="867300" cy="2310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BEST MODEL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775" y="1017725"/>
            <a:ext cx="7268300" cy="37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BEST MODEL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11700" y="1152475"/>
            <a:ext cx="3273600" cy="38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captures overall pattern.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</a:t>
            </a:r>
            <a:r>
              <a:rPr lang="en">
                <a:solidFill>
                  <a:schemeClr val="dk1"/>
                </a:solidFill>
              </a:rPr>
              <a:t>detected</a:t>
            </a:r>
            <a:r>
              <a:rPr lang="en">
                <a:solidFill>
                  <a:schemeClr val="dk1"/>
                </a:solidFill>
              </a:rPr>
              <a:t> sudden high usage.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Small Deviation.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performs very well in stable conditions.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663" y="690550"/>
            <a:ext cx="538162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chemeClr val="lt1"/>
                </a:solidFill>
              </a:rPr>
              <a:t>INTERPRETABILITY</a:t>
            </a:r>
            <a:endParaRPr sz="15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SHAP INTERPRETATION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SHAP (SHapley Additive exPlanations) interaction plots are advanced visualization tools used to understand how pairs of features jointly influence the predictions of a machine learning model.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Global_intensity (Red → Right)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 High current → high energy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Hour (Evening → Right)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 Peak hours increase load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Voltage (Mixed effect)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Less impact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977" y="1808459"/>
            <a:ext cx="5009326" cy="2771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SHAP INTERPRETATION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311700" y="1017725"/>
            <a:ext cx="85206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This is a </a:t>
            </a:r>
            <a:r>
              <a:rPr b="1" lang="en" sz="1400">
                <a:solidFill>
                  <a:srgbClr val="000000"/>
                </a:solidFill>
              </a:rPr>
              <a:t>SHAP Waterfall Plot</a:t>
            </a:r>
            <a:r>
              <a:rPr lang="en" sz="1400">
                <a:solidFill>
                  <a:srgbClr val="000000"/>
                </a:solidFill>
              </a:rPr>
              <a:t> explains </a:t>
            </a:r>
            <a:r>
              <a:rPr b="1" lang="en" sz="1400">
                <a:solidFill>
                  <a:srgbClr val="000000"/>
                </a:solidFill>
              </a:rPr>
              <a:t>one single prediction</a:t>
            </a:r>
            <a:r>
              <a:rPr lang="en" sz="1400">
                <a:solidFill>
                  <a:srgbClr val="000000"/>
                </a:solidFill>
              </a:rPr>
              <a:t> made by your model (XGBoost)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562" y="1660250"/>
            <a:ext cx="5268701" cy="30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-59550" y="1612244"/>
            <a:ext cx="4332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" sz="1600">
                <a:solidFill>
                  <a:srgbClr val="000000"/>
                </a:solidFill>
              </a:rPr>
              <a:t>Base vale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 E[f(x)] = 1.279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Average prediction of the model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" sz="1600">
                <a:solidFill>
                  <a:srgbClr val="000000"/>
                </a:solidFill>
              </a:rPr>
              <a:t>Final Prediction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f(x) = 2.349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Actual predicted value for this data point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" sz="1600">
                <a:solidFill>
                  <a:srgbClr val="000000"/>
                </a:solidFill>
              </a:rPr>
              <a:t>Feature Contributions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Each bar shows how a feature pushes the prediction up or down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20" name="Google Shape;22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SHAP INTERPRETATION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This is a </a:t>
            </a:r>
            <a:r>
              <a:rPr b="1" lang="en" sz="1400">
                <a:solidFill>
                  <a:srgbClr val="000000"/>
                </a:solidFill>
              </a:rPr>
              <a:t>SHAP Feature Importance (Bar Plot)</a:t>
            </a:r>
            <a:r>
              <a:rPr lang="en" sz="1400">
                <a:solidFill>
                  <a:srgbClr val="000000"/>
                </a:solidFill>
              </a:rPr>
              <a:t> explains the overall (global) importance of features across the entire dataset, not just one prediction.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     Mean absolute SHAP value </a:t>
            </a:r>
            <a:endParaRPr b="1" sz="1600">
              <a:solidFill>
                <a:srgbClr val="000000"/>
              </a:solidFill>
            </a:endParaRPr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= 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Average impact of a feature on prediction.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480" y="1906779"/>
            <a:ext cx="4517426" cy="278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925" y="218300"/>
            <a:ext cx="71437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LIMITATIONS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1686804"/>
            <a:ext cx="8520600" cy="3672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335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92"/>
              <a:buAutoNum type="arabicPeriod"/>
            </a:pPr>
            <a:r>
              <a:rPr b="1" lang="en" sz="1492">
                <a:solidFill>
                  <a:schemeClr val="dk1"/>
                </a:solidFill>
              </a:rPr>
              <a:t>Limited Dataset Scope </a:t>
            </a:r>
            <a:r>
              <a:rPr lang="en" sz="1492">
                <a:solidFill>
                  <a:schemeClr val="dk1"/>
                </a:solidFill>
              </a:rPr>
              <a:t>: The model may not generalize to all real-world scenarios.</a:t>
            </a:r>
            <a:endParaRPr sz="1492">
              <a:solidFill>
                <a:schemeClr val="dk1"/>
              </a:solidFill>
            </a:endParaRPr>
          </a:p>
          <a:p>
            <a:pPr indent="-323335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2"/>
              <a:buAutoNum type="arabicPeriod"/>
            </a:pPr>
            <a:r>
              <a:rPr b="1" lang="en" sz="1492">
                <a:solidFill>
                  <a:schemeClr val="dk1"/>
                </a:solidFill>
              </a:rPr>
              <a:t>No External Factors </a:t>
            </a:r>
            <a:r>
              <a:rPr lang="en" sz="1492">
                <a:solidFill>
                  <a:schemeClr val="dk1"/>
                </a:solidFill>
              </a:rPr>
              <a:t>: Factors like weather or occupancy are not included in the model.</a:t>
            </a:r>
            <a:endParaRPr sz="1492">
              <a:solidFill>
                <a:schemeClr val="dk1"/>
              </a:solidFill>
            </a:endParaRPr>
          </a:p>
          <a:p>
            <a:pPr indent="-323335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92"/>
              <a:buAutoNum type="arabicPeriod"/>
            </a:pPr>
            <a:r>
              <a:rPr b="1" lang="en" sz="1492">
                <a:solidFill>
                  <a:schemeClr val="dk1"/>
                </a:solidFill>
              </a:rPr>
              <a:t>Model Depends on Data Quality</a:t>
            </a:r>
            <a:r>
              <a:rPr lang="en" sz="1492">
                <a:solidFill>
                  <a:schemeClr val="dk1"/>
                </a:solidFill>
              </a:rPr>
              <a:t> : The performance depends on the quality of the input data.</a:t>
            </a:r>
            <a:endParaRPr sz="1492">
              <a:solidFill>
                <a:schemeClr val="dk1"/>
              </a:solidFill>
            </a:endParaRPr>
          </a:p>
          <a:p>
            <a:pPr indent="-323335" lvl="0" marL="457200" rtl="0" algn="l">
              <a:lnSpc>
                <a:spcPct val="20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92"/>
              <a:buAutoNum type="arabicPeriod"/>
            </a:pPr>
            <a:r>
              <a:rPr b="1" lang="en" sz="1492">
                <a:solidFill>
                  <a:schemeClr val="dk1"/>
                </a:solidFill>
              </a:rPr>
              <a:t>Static Model</a:t>
            </a:r>
            <a:r>
              <a:rPr lang="en" sz="1492">
                <a:solidFill>
                  <a:schemeClr val="dk1"/>
                </a:solidFill>
              </a:rPr>
              <a:t> : The model is trained once and does not update dynamically.</a:t>
            </a:r>
            <a:endParaRPr sz="149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CONCLUSION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408200" y="1152475"/>
            <a:ext cx="85206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Developed an accurate energy consumption prediction model using </a:t>
            </a:r>
            <a:r>
              <a:rPr b="1" lang="en">
                <a:solidFill>
                  <a:schemeClr val="dk1"/>
                </a:solidFill>
              </a:rPr>
              <a:t>mathematical and ML techniques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Compared multiple models (</a:t>
            </a:r>
            <a:r>
              <a:rPr b="1" lang="en">
                <a:solidFill>
                  <a:schemeClr val="dk1"/>
                </a:solidFill>
              </a:rPr>
              <a:t>Linear, RF, XGBoost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XGBoost achieved best performance with </a:t>
            </a:r>
            <a:r>
              <a:rPr b="1" lang="en">
                <a:solidFill>
                  <a:schemeClr val="dk1"/>
                </a:solidFill>
              </a:rPr>
              <a:t>lowest error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high reliability.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SHAP analysis identified key </a:t>
            </a:r>
            <a:r>
              <a:rPr b="1" lang="en">
                <a:solidFill>
                  <a:schemeClr val="dk1"/>
                </a:solidFill>
              </a:rPr>
              <a:t>factors influencing energy usage.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Demonstrated effective data-driven energy optimization and decision support.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REFERENCE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311700" y="2207848"/>
            <a:ext cx="8520600" cy="22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[1] 	UCI Machine Learning Repository Individual Household Electric Power Consumption Datasete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[2]	Scikit-learn Documentation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[3]	XGBoost Documentation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[4]	Statsmodels Documentation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chemeClr val="lt1"/>
                </a:solidFill>
              </a:rPr>
              <a:t>THANKS</a:t>
            </a:r>
            <a:endParaRPr sz="15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